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DM Sans Medium"/>
      <p:regular r:id="rId32"/>
      <p:bold r:id="rId33"/>
      <p:italic r:id="rId34"/>
      <p:boldItalic r:id="rId35"/>
    </p:embeddedFont>
    <p:embeddedFont>
      <p:font typeface="Roboto Mono"/>
      <p:regular r:id="rId36"/>
      <p:bold r:id="rId37"/>
      <p:italic r:id="rId38"/>
      <p:boldItalic r:id="rId39"/>
    </p:embeddedFont>
    <p:embeddedFont>
      <p:font typeface="Merriweather"/>
      <p:regular r:id="rId40"/>
      <p:bold r:id="rId41"/>
      <p:italic r:id="rId42"/>
      <p:boldItalic r:id="rId43"/>
    </p:embeddedFont>
    <p:embeddedFont>
      <p:font typeface="DM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30F659-299D-411F-85F5-DEEB37F1226F}">
  <a:tblStyle styleId="{C730F659-299D-411F-85F5-DEEB37F1226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FED4BAF-D71F-4F52-BA8A-50F7AA4F7B5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regular.fntdata"/><Relationship Id="rId20" Type="http://schemas.openxmlformats.org/officeDocument/2006/relationships/slide" Target="slides/slide14.xml"/><Relationship Id="rId42" Type="http://schemas.openxmlformats.org/officeDocument/2006/relationships/font" Target="fonts/Merriweather-italic.fntdata"/><Relationship Id="rId41" Type="http://schemas.openxmlformats.org/officeDocument/2006/relationships/font" Target="fonts/Merriweather-bold.fntdata"/><Relationship Id="rId22" Type="http://schemas.openxmlformats.org/officeDocument/2006/relationships/slide" Target="slides/slide16.xml"/><Relationship Id="rId44" Type="http://schemas.openxmlformats.org/officeDocument/2006/relationships/font" Target="fonts/DMSans-regular.fntdata"/><Relationship Id="rId21" Type="http://schemas.openxmlformats.org/officeDocument/2006/relationships/slide" Target="slides/slide15.xml"/><Relationship Id="rId43" Type="http://schemas.openxmlformats.org/officeDocument/2006/relationships/font" Target="fonts/Merriweather-boldItalic.fntdata"/><Relationship Id="rId24" Type="http://schemas.openxmlformats.org/officeDocument/2006/relationships/slide" Target="slides/slide18.xml"/><Relationship Id="rId46" Type="http://schemas.openxmlformats.org/officeDocument/2006/relationships/font" Target="fonts/DMSans-italic.fntdata"/><Relationship Id="rId23" Type="http://schemas.openxmlformats.org/officeDocument/2006/relationships/slide" Target="slides/slide17.xml"/><Relationship Id="rId45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DM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DMSansMedium-bold.fntdata"/><Relationship Id="rId10" Type="http://schemas.openxmlformats.org/officeDocument/2006/relationships/slide" Target="slides/slide4.xml"/><Relationship Id="rId32" Type="http://schemas.openxmlformats.org/officeDocument/2006/relationships/font" Target="fonts/DMSansMedium-regular.fntdata"/><Relationship Id="rId13" Type="http://schemas.openxmlformats.org/officeDocument/2006/relationships/slide" Target="slides/slide7.xml"/><Relationship Id="rId35" Type="http://schemas.openxmlformats.org/officeDocument/2006/relationships/font" Target="fonts/DMSans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DMSansMedium-italic.fntdata"/><Relationship Id="rId15" Type="http://schemas.openxmlformats.org/officeDocument/2006/relationships/slide" Target="slides/slide9.xml"/><Relationship Id="rId37" Type="http://schemas.openxmlformats.org/officeDocument/2006/relationships/font" Target="fonts/RobotoMono-bold.fntdata"/><Relationship Id="rId14" Type="http://schemas.openxmlformats.org/officeDocument/2006/relationships/slide" Target="slides/slide8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1986daff5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1986daf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1986daff5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1986daff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1b5d99f3a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1b5d99f3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1b5d99f3a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1b5d99f3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1986daff5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1986daff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1986daff5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1986daff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1986daff5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1986daff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1986daff5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1986daff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1986daff5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1986daff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1986daff5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1986daff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1986daff5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1986daff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1b5d99f3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1b5d99f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1b5d99f3a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1b5d99f3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1b5d99f3a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1b5d99f3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1b5d99f3a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1b5d99f3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1b5d99f3a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1b5d99f3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file/d/1jYU03CPV-t1ot-xPQf7X8DNeT6Jxy0YJ/view?usp=sharing" TargetMode="External"/><Relationship Id="rId4" Type="http://schemas.openxmlformats.org/officeDocument/2006/relationships/hyperlink" Target="http://drive.google.com/file/d/1jYU03CPV-t1ot-xPQf7X8DNeT6Jxy0YJ/view" TargetMode="External"/><Relationship Id="rId5" Type="http://schemas.openxmlformats.org/officeDocument/2006/relationships/image" Target="../media/image4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open?id=1jgvVpTvQ7gNQ-szs9hKFwmuzq3XSE2o2&amp;usp=drive_copy" TargetMode="External"/><Relationship Id="rId4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51.png"/><Relationship Id="rId7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Relationship Id="rId5" Type="http://schemas.openxmlformats.org/officeDocument/2006/relationships/image" Target="../media/image36.png"/><Relationship Id="rId6" Type="http://schemas.openxmlformats.org/officeDocument/2006/relationships/image" Target="../media/image39.png"/><Relationship Id="rId7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Relationship Id="rId4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Relationship Id="rId4" Type="http://schemas.openxmlformats.org/officeDocument/2006/relationships/image" Target="../media/image42.png"/><Relationship Id="rId5" Type="http://schemas.openxmlformats.org/officeDocument/2006/relationships/hyperlink" Target="https://github.com/juliosevillag04/presion_hidr.git" TargetMode="External"/><Relationship Id="rId6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hyperlink" Target="https://github.com/juliosevillag04/presion_hidr.git" TargetMode="External"/><Relationship Id="rId5" Type="http://schemas.openxmlformats.org/officeDocument/2006/relationships/image" Target="../media/image41.png"/><Relationship Id="rId6" Type="http://schemas.openxmlformats.org/officeDocument/2006/relationships/hyperlink" Target="https://github.com/juliosevillag04/presion_hidr.git" TargetMode="External"/><Relationship Id="rId7" Type="http://schemas.openxmlformats.org/officeDocument/2006/relationships/image" Target="../media/image5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rive.google.com/drive/folders/1kGJOOTHfU4RDaZgUn0o0L-sodQocZzlV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90300" y="511025"/>
            <a:ext cx="10811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Proyecto en C#</a:t>
            </a:r>
            <a:endParaRPr sz="3100"/>
          </a:p>
        </p:txBody>
      </p:sp>
      <p:sp>
        <p:nvSpPr>
          <p:cNvPr id="85" name="Google Shape;85;p13"/>
          <p:cNvSpPr txBox="1"/>
          <p:nvPr/>
        </p:nvSpPr>
        <p:spPr>
          <a:xfrm>
            <a:off x="295200" y="1274765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Laboratorio de Presión Hidrostática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214525" y="2998675"/>
            <a:ext cx="6515100" cy="31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Integrantes:</a:t>
            </a:r>
            <a:endParaRPr sz="2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Times New Roman"/>
              <a:buChar char="●"/>
            </a:pPr>
            <a:r>
              <a:rPr i="1" lang="en-US" sz="2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Ronaldo Jeshua Castillo Cuadra</a:t>
            </a:r>
            <a:endParaRPr i="1" sz="2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Times New Roman"/>
              <a:buChar char="●"/>
            </a:pPr>
            <a:r>
              <a:rPr i="1" lang="en-US" sz="2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Mariela Fernanda Hurtado Duarte</a:t>
            </a:r>
            <a:endParaRPr i="1" sz="2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Times New Roman"/>
              <a:buChar char="●"/>
            </a:pPr>
            <a:r>
              <a:rPr i="1" lang="en-US" sz="2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Nijeri Iveth Jarquín García</a:t>
            </a:r>
            <a:endParaRPr i="1" sz="2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Times New Roman"/>
              <a:buChar char="●"/>
            </a:pPr>
            <a:r>
              <a:rPr i="1" lang="en-US" sz="2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Julio Javier Sevilla Gallegos</a:t>
            </a:r>
            <a:endParaRPr i="1" sz="33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7" name="Google Shape;87;p13" title="WhatsApp Image 2026-06-19 at 12.26.49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200" y="2318950"/>
            <a:ext cx="3002124" cy="400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45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1545500"/>
            <a:ext cx="5286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</a:rPr>
              <a:t>En el laboratorio de Mecánica de Fluidos, los estudiantes procesan manualmente los datos de presión hidrostática.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</a:rPr>
              <a:t>Esto genera: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Cálculos repetitivos de momentos y errores.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Riesgo de errores al aplicar fórmulas.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Menos tiempo para interpretar los resultados.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A</a:t>
            </a:r>
            <a:r>
              <a:rPr lang="en-US" sz="2100">
                <a:solidFill>
                  <a:schemeClr val="dk1"/>
                </a:solidFill>
              </a:rPr>
              <a:t>utomatizar los cálculos permite ahorrar tiempo y mejorar la precisión.</a:t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5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2225" y="1752600"/>
            <a:ext cx="5210175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Descripción del Problema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65114"/>
            <a:ext cx="5334000" cy="3985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65114"/>
            <a:ext cx="5334000" cy="398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71550" y="2265164"/>
            <a:ext cx="476059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Herramienta Informática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971550" y="2750939"/>
            <a:ext cx="45339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971550" y="2970014"/>
            <a:ext cx="4533900" cy="29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Se propone desarrollar un programa en </a:t>
            </a:r>
            <a:r>
              <a:rPr b="1" lang="en-US" sz="1900">
                <a:solidFill>
                  <a:schemeClr val="dk1"/>
                </a:solidFill>
              </a:rPr>
              <a:t>C#</a:t>
            </a:r>
            <a:r>
              <a:rPr lang="en-US" sz="1900">
                <a:solidFill>
                  <a:schemeClr val="dk1"/>
                </a:solidFill>
              </a:rPr>
              <a:t> que registre hasta </a:t>
            </a:r>
            <a:r>
              <a:rPr b="1" lang="en-US" sz="1900">
                <a:solidFill>
                  <a:schemeClr val="dk1"/>
                </a:solidFill>
              </a:rPr>
              <a:t>15 mediciones</a:t>
            </a:r>
            <a:r>
              <a:rPr lang="en-US" sz="1900">
                <a:solidFill>
                  <a:schemeClr val="dk1"/>
                </a:solidFill>
              </a:rPr>
              <a:t>, valide datos numéricos positivos y calcule automáticamente las variables requeridas del laboratorio.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Al final, los resultados se guardan en un archivo </a:t>
            </a:r>
            <a:r>
              <a:rPr b="1" lang="en-US" sz="1900">
                <a:solidFill>
                  <a:schemeClr val="dk1"/>
                </a:solidFill>
              </a:rPr>
              <a:t>CSV</a:t>
            </a:r>
            <a:r>
              <a:rPr lang="en-US" sz="1900">
                <a:solidFill>
                  <a:schemeClr val="dk1"/>
                </a:solidFill>
              </a:rPr>
              <a:t> accesible para el estudiante.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6686550" y="2265164"/>
            <a:ext cx="476059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Propósito Académico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686550" y="2750939"/>
            <a:ext cx="45339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686550" y="2970014"/>
            <a:ext cx="45339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La automatización no reemplaza el aprendizaje, sino que lo complementa.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Al reducir cálculos repetitivos, el estudiante puede dedicar más tiempo a </a:t>
            </a:r>
            <a:r>
              <a:rPr b="1" lang="en-US" sz="1900">
                <a:solidFill>
                  <a:schemeClr val="dk1"/>
                </a:solidFill>
              </a:rPr>
              <a:t>analizar, validar e interpretar</a:t>
            </a:r>
            <a:r>
              <a:rPr lang="en-US" sz="1900">
                <a:solidFill>
                  <a:schemeClr val="dk1"/>
                </a:solidFill>
              </a:rPr>
              <a:t> los resultados obtenidos.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Solución Propuesta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9698"/>
            <a:ext cx="3429000" cy="421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729698"/>
            <a:ext cx="3429000" cy="421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729698"/>
            <a:ext cx="3429000" cy="42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814162" y="2440983"/>
            <a:ext cx="300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Encuesta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57250" y="2840283"/>
            <a:ext cx="28575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Aplicación de un cuestionario digital a 27 estudiantes para medir su percepción directa sobre el tiempo consumido, la frecuencia de errores repetitivos y la utilidad práctica de una herramienta informática.</a:t>
            </a:r>
            <a:endParaRPr sz="1700"/>
          </a:p>
        </p:txBody>
      </p:sp>
      <p:sp>
        <p:nvSpPr>
          <p:cNvPr id="119" name="Google Shape;119;p16"/>
          <p:cNvSpPr txBox="1"/>
          <p:nvPr/>
        </p:nvSpPr>
        <p:spPr>
          <a:xfrm>
            <a:off x="4595862" y="2459058"/>
            <a:ext cx="300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Entrevista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667250" y="2876433"/>
            <a:ext cx="28575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Entrevista aplicada a los estudiantes de 4to año que estén cursando la clase de mecánica de fluidos y profesor de laboratorio para que compartan su punto de vista sobre una automatización en el laboratorio.</a:t>
            </a:r>
            <a:endParaRPr sz="1500"/>
          </a:p>
        </p:txBody>
      </p:sp>
      <p:sp>
        <p:nvSpPr>
          <p:cNvPr id="121" name="Google Shape;121;p16"/>
          <p:cNvSpPr txBox="1"/>
          <p:nvPr/>
        </p:nvSpPr>
        <p:spPr>
          <a:xfrm>
            <a:off x="8377562" y="2450021"/>
            <a:ext cx="300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 Documental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477250" y="3061083"/>
            <a:ext cx="28575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Revisión técnica exhaustiva de la guía oficial del laboratorio para extraer fórmulas físicas, constantes hidrostáticas y restricciones, consolidando así la matriz técnica de requerimientos informáticos.</a:t>
            </a:r>
            <a:endParaRPr sz="1500"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4550" y="1861683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8825" y="1861683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34550" y="1884383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Técnicas de Recolección de Datos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/>
        </p:nvSpPr>
        <p:spPr>
          <a:xfrm>
            <a:off x="0" y="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 de la Encuesta Estudiantil</a:t>
            </a:r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 rotWithShape="1">
          <a:blip r:embed="rId3">
            <a:alphaModFix/>
          </a:blip>
          <a:srcRect b="9254" l="2357" r="13475" t="7971"/>
          <a:stretch/>
        </p:blipFill>
        <p:spPr>
          <a:xfrm>
            <a:off x="0" y="709102"/>
            <a:ext cx="5841050" cy="2417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4">
            <a:alphaModFix/>
          </a:blip>
          <a:srcRect b="10190" l="2706" r="11926" t="7036"/>
          <a:stretch/>
        </p:blipFill>
        <p:spPr>
          <a:xfrm>
            <a:off x="6034801" y="639275"/>
            <a:ext cx="5924163" cy="2417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 rotWithShape="1">
          <a:blip r:embed="rId5">
            <a:alphaModFix/>
          </a:blip>
          <a:srcRect b="8502" l="2474" r="3823" t="6557"/>
          <a:stretch/>
        </p:blipFill>
        <p:spPr>
          <a:xfrm>
            <a:off x="0" y="3950386"/>
            <a:ext cx="6502157" cy="248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/>
          <p:cNvPicPr preferRelativeResize="0"/>
          <p:nvPr/>
        </p:nvPicPr>
        <p:blipFill rotWithShape="1">
          <a:blip r:embed="rId6">
            <a:alphaModFix/>
          </a:blip>
          <a:srcRect b="6638" l="2349" r="9351" t="5318"/>
          <a:stretch/>
        </p:blipFill>
        <p:spPr>
          <a:xfrm>
            <a:off x="6502157" y="3950386"/>
            <a:ext cx="5689842" cy="257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0" y="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 de la Encuesta Estudiantil</a:t>
            </a: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 b="6605" l="2391" r="6018" t="6257"/>
          <a:stretch/>
        </p:blipFill>
        <p:spPr>
          <a:xfrm>
            <a:off x="0" y="564275"/>
            <a:ext cx="6145886" cy="265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 rotWithShape="1">
          <a:blip r:embed="rId4">
            <a:alphaModFix/>
          </a:blip>
          <a:srcRect b="6423" l="2405" r="7171" t="6431"/>
          <a:stretch/>
        </p:blipFill>
        <p:spPr>
          <a:xfrm>
            <a:off x="6124312" y="564275"/>
            <a:ext cx="6067687" cy="265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 rotWithShape="1">
          <a:blip r:embed="rId5">
            <a:alphaModFix/>
          </a:blip>
          <a:srcRect b="7350" l="2458" r="6492" t="6077"/>
          <a:stretch/>
        </p:blipFill>
        <p:spPr>
          <a:xfrm>
            <a:off x="0" y="3990091"/>
            <a:ext cx="5963535" cy="2570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6">
            <a:alphaModFix/>
          </a:blip>
          <a:srcRect b="9274" l="2335" r="5021" t="6720"/>
          <a:stretch/>
        </p:blipFill>
        <p:spPr>
          <a:xfrm>
            <a:off x="5963535" y="3990109"/>
            <a:ext cx="6067688" cy="2494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/>
        </p:nvSpPr>
        <p:spPr>
          <a:xfrm>
            <a:off x="0" y="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Entrevista a alumnos</a:t>
            </a:r>
            <a:r>
              <a:rPr lang="en-US"/>
              <a:t> </a:t>
            </a:r>
            <a:endParaRPr/>
          </a:p>
        </p:txBody>
      </p:sp>
      <p:pic>
        <p:nvPicPr>
          <p:cNvPr id="150" name="Google Shape;150;p19" title="entrevista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338" y="581800"/>
            <a:ext cx="10829333" cy="60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348800" y="375625"/>
            <a:ext cx="7096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u="sng">
                <a:solidFill>
                  <a:schemeClr val="hlink"/>
                </a:solidFill>
                <a:hlinkClick r:id="rId3"/>
              </a:rPr>
              <a:t>profesor_entrevista.mp4</a:t>
            </a:r>
            <a:r>
              <a:rPr lang="en-US" sz="5000">
                <a:solidFill>
                  <a:schemeClr val="dk1"/>
                </a:solidFill>
              </a:rPr>
              <a:t> </a:t>
            </a:r>
            <a:endParaRPr sz="5000"/>
          </a:p>
        </p:txBody>
      </p:sp>
      <p:pic>
        <p:nvPicPr>
          <p:cNvPr id="156" name="Google Shape;156;p20" title="ChatGPT Image 23 jun 2026, 20_44_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82325"/>
            <a:ext cx="11706855" cy="522327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3823425" y="2253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Huber Ariel Oporta Benavides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34753"/>
            <a:ext cx="11049000" cy="40457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" name="Google Shape;168;p22"/>
          <p:cNvGraphicFramePr/>
          <p:nvPr/>
        </p:nvGraphicFramePr>
        <p:xfrm>
          <a:off x="590550" y="13281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{C730F659-299D-411F-85F5-DEEB37F1226F}</a:tableStyleId>
              </a:tblPr>
              <a:tblGrid>
                <a:gridCol w="1701250"/>
                <a:gridCol w="9309650"/>
              </a:tblGrid>
              <a:tr h="96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Elemento</a:t>
                      </a:r>
                      <a:endParaRPr sz="2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Descripción del Requerimiento</a:t>
                      </a:r>
                      <a:endParaRPr sz="2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Problema Central</a:t>
                      </a:r>
                      <a:endParaRPr sz="2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El cálculo manual consume valioso tiempo, es excesivamente repetitivo y genera errores de transcripción matemática o selección inadecuada de fórmulas de área.</a:t>
                      </a:r>
                      <a:endParaRPr sz="2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Entradas de Datos</a:t>
                      </a:r>
                      <a:endParaRPr sz="2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Distancia al brazo de palanca (Iw), fuerza generada por pesas (Fw) y nivel crítico del agua (s). Límite establecido de 15 mediciones físicas.</a:t>
                      </a:r>
                      <a:endParaRPr sz="2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Procesos Lógicos</a:t>
                      </a:r>
                      <a:endParaRPr sz="2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Validación de números estrictamente positivos, cálculo automático de Fp, Ip, Mp, Mw y la obtención del margen de error porcentual final.</a:t>
                      </a:r>
                      <a:endParaRPr sz="2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Salidas Generadas</a:t>
                      </a:r>
                      <a:endParaRPr sz="2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Tabla analítica de resultados desplegada en consola y archivo mediciones_hidrostaticas.csv generado para informes universitarios.</a:t>
                      </a:r>
                      <a:endParaRPr sz="2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9" name="Google Shape;169;p22"/>
          <p:cNvSpPr/>
          <p:nvPr/>
        </p:nvSpPr>
        <p:spPr>
          <a:xfrm>
            <a:off x="590550" y="3327201"/>
            <a:ext cx="1701254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2291804" y="3327201"/>
            <a:ext cx="930964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590550" y="4167187"/>
            <a:ext cx="1701254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2291804" y="4167187"/>
            <a:ext cx="930964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590550" y="5007173"/>
            <a:ext cx="1701254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2291804" y="5007173"/>
            <a:ext cx="930964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Requerimientos Generales del Sistema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6611"/>
            <a:ext cx="3429000" cy="3362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76611"/>
            <a:ext cx="3429000" cy="3362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76611"/>
            <a:ext cx="3429000" cy="336202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/>
        </p:nvSpPr>
        <p:spPr>
          <a:xfrm>
            <a:off x="805815" y="2916386"/>
            <a:ext cx="29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Registro de Datos</a:t>
            </a:r>
            <a:endParaRPr/>
          </a:p>
        </p:txBody>
      </p:sp>
      <p:sp>
        <p:nvSpPr>
          <p:cNvPr id="185" name="Google Shape;185;p23"/>
          <p:cNvSpPr/>
          <p:nvPr/>
        </p:nvSpPr>
        <p:spPr>
          <a:xfrm>
            <a:off x="917575" y="3306911"/>
            <a:ext cx="2819400" cy="19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876300" y="3559686"/>
            <a:ext cx="2819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Solicita las mediciones iniciales asegurando la integridad. Garantiza mediante bucles que solo ingresen parámetros numéricos positivos respetando el límite.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4634865" y="2837011"/>
            <a:ext cx="29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Ejecución de Cálculos</a:t>
            </a:r>
            <a:endParaRPr/>
          </a:p>
        </p:txBody>
      </p:sp>
      <p:sp>
        <p:nvSpPr>
          <p:cNvPr id="188" name="Google Shape;188;p23"/>
          <p:cNvSpPr/>
          <p:nvPr/>
        </p:nvSpPr>
        <p:spPr>
          <a:xfrm>
            <a:off x="4721225" y="3193586"/>
            <a:ext cx="2819400" cy="19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4706938" y="3306911"/>
            <a:ext cx="2819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Discrimina condicionalmente el estado del fluido, aplicando la ecuación diferencial correspondiente al área total o parcialmente sumergida para obtener incógnitas.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8425765" y="2879261"/>
            <a:ext cx="29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Gestión de Archivos</a:t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8496300" y="3193661"/>
            <a:ext cx="2819400" cy="19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8496300" y="3323386"/>
            <a:ext cx="2819400" cy="15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Compila estructuralmente la matriz de resultados y la exporta permanentemente hacia un documento de valores separados por comas para su uso ofimático.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image.png" id="193" name="Google Shape;19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32266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4550" y="2255124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25512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 de Sub-problemas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/>
        </p:nvSpPr>
        <p:spPr>
          <a:xfrm>
            <a:off x="0" y="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Diagrama estructura del programa</a:t>
            </a:r>
            <a:endParaRPr/>
          </a:p>
        </p:txBody>
      </p:sp>
      <p:pic>
        <p:nvPicPr>
          <p:cNvPr id="202" name="Google Shape;20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47163"/>
            <a:ext cx="12191999" cy="5163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/>
        </p:nvSpPr>
        <p:spPr>
          <a:xfrm>
            <a:off x="0" y="0"/>
            <a:ext cx="550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Pseudocódigo del programa</a:t>
            </a:r>
            <a:endParaRPr/>
          </a:p>
        </p:txBody>
      </p:sp>
      <p:sp>
        <p:nvSpPr>
          <p:cNvPr id="208" name="Google Shape;208;p25"/>
          <p:cNvSpPr txBox="1"/>
          <p:nvPr/>
        </p:nvSpPr>
        <p:spPr>
          <a:xfrm>
            <a:off x="290575" y="5973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452000" y="1402950"/>
            <a:ext cx="4568700" cy="405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Programa principal</a:t>
            </a:r>
            <a:endParaRPr b="1" sz="13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INICIO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Limpiar pantalla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Crear arreglo mediciones con capacidad de 15 registros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Inicializar contador i = 0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Definir ruta del archivo CSV en Descargas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Ejecutar leerArchivo()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REPETIR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Mostrar menú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Leer opción del usuario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SEGÚN opción HACER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1: Mostrar título, ejecutar pedirDatos(), pausar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2: Mostrar título, ejecutar mostrarDatos(), pausar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3: Mostrar título, ejecutar eliminarMedicion(), pausar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4: Mostrar título, ejecutar guardarArchivo(), pausar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5: Mostrar créditos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OTRO: Mostrar opción inválida y pausar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FIN SEGÚN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HASTA QUE opción = 5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FIN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6586775" y="597325"/>
            <a:ext cx="5020800" cy="598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Registro y cálculo de medición</a:t>
            </a:r>
            <a:endParaRPr b="1" sz="13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pedirDatos()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SI i &gt;= 15 ENTONCES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Mostrar mensaje de límite alcanzado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RETORNAR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FIN SI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Solicitar Iw, Fw y 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MIENTRAS cada dato no sea numérico o sea negativo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Mostrar error y solicitar nuevamente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FIN MIENTRAS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SI s &lt;= 100 ENTONCES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Calcular Fp con fórmula para superficie parcialmente sumergida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Calcular Ip = 200 - s/3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SINO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Calcular Fp con fórmula para superficie totalmente sumergida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Calcular Ip = 150 + (1/12) * (10000 / (s - 50))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FIN SI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Calcular Mp = Fp * Ip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Calcular Mw = Fw * Iw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SI Mw != 0 ENTONCES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Calcular error porcentual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SINO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error = 0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FIN SI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Incrementar contador i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FIN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/>
        </p:nvSpPr>
        <p:spPr>
          <a:xfrm>
            <a:off x="0" y="0"/>
            <a:ext cx="550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Pseudocódigo del programa</a:t>
            </a:r>
            <a:endParaRPr/>
          </a:p>
        </p:txBody>
      </p:sp>
      <p:sp>
        <p:nvSpPr>
          <p:cNvPr id="216" name="Google Shape;216;p26"/>
          <p:cNvSpPr/>
          <p:nvPr/>
        </p:nvSpPr>
        <p:spPr>
          <a:xfrm>
            <a:off x="0" y="1961525"/>
            <a:ext cx="3438600" cy="255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Mostrar mediciones</a:t>
            </a:r>
            <a:endParaRPr b="1" sz="13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mostrarDatos()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SI i = 0 ENTONCES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Mostrar 'No hay mediciones registradas'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RETORNAR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FIN SI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Mostrar encabezado de tabla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PARA cont DESDE 0 HASTA i - 1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Mostrar número, Fp, Ip, Mp, Mw y error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FIN PARA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FIN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3868050" y="1322250"/>
            <a:ext cx="4455900" cy="42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Eliminar medición</a:t>
            </a:r>
            <a:endParaRPr b="1" sz="13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eliminarMedicion()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SI i = 0 ENTONCES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Mostrar aviso y retornar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FIN SI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Mostrar mediciones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Solicitar número de medición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SI número es válido ENTONCES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Solicitar confirmación S/N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SI respuesta = S ENTONCES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Desplazar registros posteriores una posición hacia atrás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Disminuir i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Mostrar confirmación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SINO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Cancelar operación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FIN SI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SINO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Mostrar número inválido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FIN SI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FIN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8898600" y="920225"/>
            <a:ext cx="3293400" cy="46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Guardar y leer archivo</a:t>
            </a:r>
            <a:endParaRPr b="1" sz="13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guardarArchivo()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Intentar abrir archivo CSV en Descargas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Escribir encabezado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PARA cada medición registrada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Escribir Iw;Fw;s;Fp;Ip;Mp;Mw;Error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FIN PARA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Cerrar archivo y mostrar ruta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SI ocurre error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Mostrar mensaje de error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FIN SI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FIN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leerArchivo()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SI el archivo no existe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Retornar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FIN SI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Leer primera línea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Si no es encabezado, procesarla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MIENTRAS existan líneas y i &lt; 15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procesarLineaArchivo(linea)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FIN MIENTRAS</a:t>
            </a:r>
            <a:endParaRPr sz="11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FIN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888" y="0"/>
            <a:ext cx="731822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 txBox="1"/>
          <p:nvPr/>
        </p:nvSpPr>
        <p:spPr>
          <a:xfrm>
            <a:off x="0" y="0"/>
            <a:ext cx="550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Diagrama de flujo del comportamiento del programa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" name="Google Shape;229;p28"/>
          <p:cNvGraphicFramePr/>
          <p:nvPr/>
        </p:nvGraphicFramePr>
        <p:xfrm>
          <a:off x="0" y="48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{DFED4BAF-D71F-4F52-BA8A-50F7AA4F7B55}</a:tableStyleId>
              </a:tblPr>
              <a:tblGrid>
                <a:gridCol w="3029700"/>
                <a:gridCol w="5005600"/>
                <a:gridCol w="4156700"/>
              </a:tblGrid>
              <a:tr h="5362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Módulo / función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Responsabilidad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Relación con el análisis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5362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menu()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Presenta las opciones y lee la elección del usuario.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Navegación del sistema.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2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mostrarTitulo(titulo)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Unifica el diseño visual de los encabezados.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Presentación técnica y experiencia de usuario.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5362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pausa()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Permite leer la información antes de volver al menú.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Control de interacción.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2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pedirDatos()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Registra Iw, Fw y s; valida entradas; calcula Fp, Ip, Mp, Mw y error.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Registro y cálculo hidrostático.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5362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mostrarDatos()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Muestra resultados registrados en una tabla.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Salida de resultados.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2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eliminarMedicion()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Elimina un registro seleccionado y desplaza el arreglo.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Gestión de mediciones.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5362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guardarArchivo()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Guarda los registros en CSV.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Persistencia de datos.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2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leerArchivo()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Carga registros existentes al iniciar.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Recuperación de información.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5362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procesarLineaArchivo(linea)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Valida y convierte cada línea del CSV.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Lectura segura de datos.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2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mostrarCreditos()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Muestra los integrantes al salir.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Cierre del programa.</a:t>
                      </a:r>
                      <a:endParaRPr sz="16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28"/>
          <p:cNvSpPr txBox="1"/>
          <p:nvPr/>
        </p:nvSpPr>
        <p:spPr>
          <a:xfrm>
            <a:off x="0" y="161450"/>
            <a:ext cx="106731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/>
              <a:t>Diseño de algoritmo lógico - </a:t>
            </a:r>
            <a:r>
              <a:rPr b="1" lang="en-US" sz="1700"/>
              <a:t>Módulos C# del proyecto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45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9"/>
          <p:cNvSpPr txBox="1"/>
          <p:nvPr/>
        </p:nvSpPr>
        <p:spPr>
          <a:xfrm>
            <a:off x="511125" y="1529475"/>
            <a:ext cx="5048400" cy="46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Arreglo de mediciones:</a:t>
            </a:r>
            <a:r>
              <a:rPr lang="en-US" sz="2000">
                <a:solidFill>
                  <a:schemeClr val="dk1"/>
                </a:solidFill>
              </a:rPr>
              <a:t> almacena hasta 15 registros de la práctica.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Validación segura:</a:t>
            </a:r>
            <a:r>
              <a:rPr lang="en-US" sz="2000">
                <a:solidFill>
                  <a:schemeClr val="dk1"/>
                </a:solidFill>
              </a:rPr>
              <a:t> usa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TryParse</a:t>
            </a:r>
            <a:r>
              <a:rPr lang="en-US" sz="2000">
                <a:solidFill>
                  <a:schemeClr val="dk1"/>
                </a:solidFill>
              </a:rPr>
              <a:t> para evitar errores por datos inválidos.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Formato decimal: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InvariantCulture</a:t>
            </a:r>
            <a:r>
              <a:rPr lang="en-US" sz="2000">
                <a:solidFill>
                  <a:schemeClr val="dk1"/>
                </a:solidFill>
              </a:rPr>
              <a:t> asegura el uso del punto decimal.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Código modular:</a:t>
            </a:r>
            <a:r>
              <a:rPr lang="en-US" sz="2000">
                <a:solidFill>
                  <a:schemeClr val="dk1"/>
                </a:solidFill>
              </a:rPr>
              <a:t> funciones separadas facilitan lectura, depuración y trabajo en equipo.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Codificación en C#</a:t>
            </a:r>
            <a:endParaRPr/>
          </a:p>
        </p:txBody>
      </p:sp>
      <p:pic>
        <p:nvPicPr>
          <p:cNvPr id="238" name="Google Shape;23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4850" y="1864975"/>
            <a:ext cx="5048249" cy="39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0" y="171450"/>
            <a:ext cx="34480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7700" y="0"/>
            <a:ext cx="35814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60125" y="104775"/>
            <a:ext cx="3343275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1000" y="3054263"/>
            <a:ext cx="46767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1638" y="3068550"/>
            <a:ext cx="3371850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0"/>
          <p:cNvSpPr/>
          <p:nvPr/>
        </p:nvSpPr>
        <p:spPr>
          <a:xfrm>
            <a:off x="7705525" y="824450"/>
            <a:ext cx="636000" cy="49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0"/>
          <p:cNvSpPr/>
          <p:nvPr/>
        </p:nvSpPr>
        <p:spPr>
          <a:xfrm rot="5400000">
            <a:off x="9607050" y="2288250"/>
            <a:ext cx="795600" cy="41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3911421" y="6032350"/>
            <a:ext cx="4676700" cy="73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3475825" y="801000"/>
            <a:ext cx="550200" cy="49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0"/>
          <p:cNvSpPr/>
          <p:nvPr/>
        </p:nvSpPr>
        <p:spPr>
          <a:xfrm rot="10800000">
            <a:off x="5307400" y="3731450"/>
            <a:ext cx="1269900" cy="49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675" y="0"/>
            <a:ext cx="3929625" cy="21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075" y="0"/>
            <a:ext cx="3938612" cy="21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2" y="2851925"/>
            <a:ext cx="446722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8915" y="5115850"/>
            <a:ext cx="3249583" cy="174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44954" y="5123500"/>
            <a:ext cx="4467225" cy="172682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1"/>
          <p:cNvSpPr/>
          <p:nvPr/>
        </p:nvSpPr>
        <p:spPr>
          <a:xfrm>
            <a:off x="5828399" y="725775"/>
            <a:ext cx="1287600" cy="61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1"/>
          <p:cNvSpPr/>
          <p:nvPr/>
        </p:nvSpPr>
        <p:spPr>
          <a:xfrm rot="5400000">
            <a:off x="7887825" y="2170351"/>
            <a:ext cx="561900" cy="61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"/>
          <p:cNvSpPr/>
          <p:nvPr/>
        </p:nvSpPr>
        <p:spPr>
          <a:xfrm rot="5400000">
            <a:off x="4586850" y="4447552"/>
            <a:ext cx="588600" cy="61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1"/>
          <p:cNvSpPr/>
          <p:nvPr/>
        </p:nvSpPr>
        <p:spPr>
          <a:xfrm>
            <a:off x="5702924" y="5537750"/>
            <a:ext cx="1287600" cy="61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0" y="1750650"/>
            <a:ext cx="6263901" cy="40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4875" y="3994700"/>
            <a:ext cx="5368850" cy="214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5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3725" y="4755175"/>
            <a:ext cx="4794450" cy="9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 txBox="1"/>
          <p:nvPr/>
        </p:nvSpPr>
        <p:spPr>
          <a:xfrm>
            <a:off x="295275" y="1982241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Conclusiones del Proyecto</a:t>
            </a:r>
            <a:endParaRPr/>
          </a:p>
        </p:txBody>
      </p:sp>
      <p:sp>
        <p:nvSpPr>
          <p:cNvPr id="290" name="Google Shape;290;p36"/>
          <p:cNvSpPr txBox="1"/>
          <p:nvPr/>
        </p:nvSpPr>
        <p:spPr>
          <a:xfrm>
            <a:off x="571500" y="3106191"/>
            <a:ext cx="11049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La herramienta C# propuesta reduce eficazmente el tiempo operativo,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otorgando al universitario la capacidad de un análisis físico profundo e íntegro.</a:t>
            </a:r>
            <a:endParaRPr/>
          </a:p>
        </p:txBody>
      </p:sp>
      <p:pic>
        <p:nvPicPr>
          <p:cNvPr descr="image.png" id="291" name="Google Shape;291;p36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5212" y="4313783"/>
            <a:ext cx="4981574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36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4362" y="4507371"/>
            <a:ext cx="2000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/>
        </p:nvSpPr>
        <p:spPr>
          <a:xfrm>
            <a:off x="363300" y="3024891"/>
            <a:ext cx="11601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5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Anexos</a:t>
            </a:r>
            <a:endParaRPr b="1" sz="525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